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ink/ink1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5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C39DB3-70E5-81BC-4C01-3505A4678EF6}" name="Dr. Vörösházi Zsolt János" initials="ZV" userId="S::voroshazi.zsolt@mik.uni-pannon.hu::f4f88a53-7075-49ed-9e62-bc7d6acac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Sötét stílus 1 – 3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Közepesen sötét stílus 2 – 5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5" autoAdjust="0"/>
    <p:restoredTop sz="94189" autoAdjust="0"/>
  </p:normalViewPr>
  <p:slideViewPr>
    <p:cSldViewPr snapToGrid="0">
      <p:cViewPr varScale="1">
        <p:scale>
          <a:sx n="102" d="100"/>
          <a:sy n="102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6:51:0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9 4945,'0'0'9194,"-150"9"-8866,120-9-328,0-3-1176,-20-12-2945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AF385-0F93-40A6-9A60-202F321FC7C7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929D7-C5EB-4521-BB12-24F8720449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069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929D7-C5EB-4521-BB12-24F872044949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904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929D7-C5EB-4521-BB12-24F872044949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9601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108E-41B4-4531-80D0-14828D27BED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4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5A05-25DE-4B7D-A571-587F2C409F4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7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4421D-6487-4ADC-801D-EDCA794DC86D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5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95F53-E99C-4209-A822-C108F9595034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7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D4EA-405A-41A1-AC4F-280D2E2B7459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9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5131-EC33-4B0D-8744-0312D45EA9D6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4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1B02-A8D9-490C-A7D5-748CEF3151E5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1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FB18-FE45-4D51-8B94-CD470C88B8A5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6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BEF3-6F61-4643-AF4C-F6A263C4DEE5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3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1E91-3AD3-48E2-B1B2-2F3FAC1C92F6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B4CA-4207-49E4-8993-7816820B4857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62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8D92-0336-487F-B059-CC456C3F06BA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623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1DFC-42FF-4D02-9DC6-3995EC20D737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83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A032-2F0B-46C9-8115-B38C75B3A55F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61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203CA-25C2-46FB-90FD-725A922D44CA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49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0C3DE-DAA1-4E3F-95CF-B0AC94E93D0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E65E-D405-4A7F-85B9-2CEFBA96923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237615-256C-41BD-B90C-23FB042F4B8A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02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zínes Paint pigments">
            <a:extLst>
              <a:ext uri="{FF2B5EF4-FFF2-40B4-BE49-F238E27FC236}">
                <a16:creationId xmlns:a16="http://schemas.microsoft.com/office/drawing/2014/main" id="{52E669BA-63E1-FB7C-5E7E-99CDA63B8F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000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6442233-EA21-2AE5-EE7A-35238EBC3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hu-HU" b="1" dirty="0">
                <a:effectLst/>
              </a:rPr>
              <a:t>Robotika és gépi látás</a:t>
            </a:r>
            <a:br>
              <a:rPr lang="en-US" b="1" noProof="0" dirty="0">
                <a:effectLst/>
              </a:rPr>
            </a:br>
            <a:r>
              <a:rPr lang="hu-HU" b="1" noProof="0" dirty="0">
                <a:effectLst/>
              </a:rPr>
              <a:t>Projekt </a:t>
            </a:r>
            <a:r>
              <a:rPr lang="en-US" b="1" noProof="0" dirty="0">
                <a:effectLst/>
              </a:rPr>
              <a:t>Pre</a:t>
            </a:r>
            <a:r>
              <a:rPr lang="hu-HU" b="1" noProof="0" dirty="0">
                <a:effectLst/>
              </a:rPr>
              <a:t>z</a:t>
            </a:r>
            <a:r>
              <a:rPr lang="en-US" b="1" noProof="0" dirty="0" err="1">
                <a:effectLst/>
              </a:rPr>
              <a:t>ent</a:t>
            </a:r>
            <a:r>
              <a:rPr lang="hu-HU" b="1" dirty="0" err="1">
                <a:effectLst/>
              </a:rPr>
              <a:t>ác</a:t>
            </a:r>
            <a:r>
              <a:rPr lang="en-US" b="1" noProof="0" dirty="0" err="1">
                <a:effectLst/>
              </a:rPr>
              <a:t>i</a:t>
            </a:r>
            <a:r>
              <a:rPr lang="hu-HU" b="1" noProof="0" dirty="0">
                <a:effectLst/>
              </a:rPr>
              <a:t>ó</a:t>
            </a:r>
            <a:endParaRPr lang="en-US" noProof="0" dirty="0">
              <a:effectLst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AACD53-0B16-3486-81E2-6363D2A12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229100"/>
            <a:ext cx="7588155" cy="1295400"/>
          </a:xfrm>
        </p:spPr>
        <p:txBody>
          <a:bodyPr>
            <a:normAutofit fontScale="85000" lnSpcReduction="20000"/>
          </a:bodyPr>
          <a:lstStyle/>
          <a:p>
            <a:r>
              <a:rPr lang="hu-HU" sz="2800" b="1" noProof="0" dirty="0">
                <a:solidFill>
                  <a:srgbClr val="FFFFFF"/>
                </a:solidFill>
              </a:rPr>
              <a:t>Salamon Ádám</a:t>
            </a:r>
          </a:p>
          <a:p>
            <a:r>
              <a:rPr lang="hu-HU" sz="2800" b="1" noProof="0" dirty="0">
                <a:solidFill>
                  <a:srgbClr val="FFFFFF"/>
                </a:solidFill>
              </a:rPr>
              <a:t>Vörös Bálint</a:t>
            </a:r>
          </a:p>
          <a:p>
            <a:r>
              <a:rPr lang="en-US" sz="2800" b="1" noProof="0" dirty="0" err="1">
                <a:solidFill>
                  <a:srgbClr val="FFFFFF"/>
                </a:solidFill>
              </a:rPr>
              <a:t>Wéninger</a:t>
            </a:r>
            <a:r>
              <a:rPr lang="hu-HU" sz="2800" b="1" noProof="0" dirty="0">
                <a:solidFill>
                  <a:srgbClr val="FFFFFF"/>
                </a:solidFill>
              </a:rPr>
              <a:t> Zoárd</a:t>
            </a:r>
            <a:endParaRPr lang="en-US" sz="2200" noProof="0" dirty="0">
              <a:solidFill>
                <a:srgbClr val="FFFFFF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E43CAE4-BA76-0182-A15F-BC887F297214}"/>
              </a:ext>
            </a:extLst>
          </p:cNvPr>
          <p:cNvSpPr txBox="1"/>
          <p:nvPr/>
        </p:nvSpPr>
        <p:spPr>
          <a:xfrm>
            <a:off x="204788" y="105846"/>
            <a:ext cx="6162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 dirty="0" err="1">
                <a:solidFill>
                  <a:srgbClr val="FFFFFF"/>
                </a:solidFill>
              </a:rPr>
              <a:t>Pannon</a:t>
            </a:r>
            <a:r>
              <a:rPr lang="en-US" sz="1800" noProof="0" dirty="0">
                <a:solidFill>
                  <a:srgbClr val="FFFFFF"/>
                </a:solidFill>
              </a:rPr>
              <a:t> </a:t>
            </a:r>
            <a:r>
              <a:rPr lang="en-US" sz="1800" noProof="0" dirty="0" err="1">
                <a:solidFill>
                  <a:srgbClr val="FFFFFF"/>
                </a:solidFill>
              </a:rPr>
              <a:t>Egyetem</a:t>
            </a:r>
            <a:r>
              <a:rPr lang="en-US" sz="1800" noProof="0" dirty="0">
                <a:solidFill>
                  <a:srgbClr val="FFFFFF"/>
                </a:solidFill>
              </a:rPr>
              <a:t>, </a:t>
            </a:r>
            <a:r>
              <a:rPr lang="en-US" sz="1800" noProof="0" dirty="0" err="1">
                <a:solidFill>
                  <a:srgbClr val="FFFFFF"/>
                </a:solidFill>
              </a:rPr>
              <a:t>Veszprém</a:t>
            </a:r>
            <a:endParaRPr lang="en-US" sz="1800" noProof="0" dirty="0">
              <a:solidFill>
                <a:srgbClr val="FFFFFF"/>
              </a:solidFill>
            </a:endParaRPr>
          </a:p>
          <a:p>
            <a:r>
              <a:rPr lang="en-US" noProof="0" dirty="0">
                <a:solidFill>
                  <a:srgbClr val="FFFFFF"/>
                </a:solidFill>
              </a:rPr>
              <a:t>MIK-VIRT</a:t>
            </a:r>
            <a:endParaRPr lang="en-US" noProof="0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C4A323F-3B0C-FEF8-4DE7-215C6F141C1D}"/>
              </a:ext>
            </a:extLst>
          </p:cNvPr>
          <p:cNvSpPr txBox="1"/>
          <p:nvPr/>
        </p:nvSpPr>
        <p:spPr>
          <a:xfrm>
            <a:off x="5031537" y="6382822"/>
            <a:ext cx="2671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dirty="0"/>
              <a:t>Robotika és gépi látás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1364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4411A8-DEAB-2DDE-7174-84265FEC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/>
              <a:t>Feladat leírás</a:t>
            </a:r>
            <a:endParaRPr lang="en-US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0FE2E5-2CD8-C899-95A0-7DD47CE85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906" y="1580050"/>
            <a:ext cx="5845224" cy="4058751"/>
          </a:xfrm>
        </p:spPr>
        <p:txBody>
          <a:bodyPr>
            <a:normAutofit lnSpcReduction="10000"/>
          </a:bodyPr>
          <a:lstStyle/>
          <a:p>
            <a:r>
              <a:rPr lang="hu-HU" dirty="0"/>
              <a:t>Egy labirintusban elhelyezett robotnak ki kell jutnia onnan vizuális jeleken (</a:t>
            </a:r>
            <a:r>
              <a:rPr lang="hu-HU" dirty="0" err="1"/>
              <a:t>pl</a:t>
            </a:r>
            <a:r>
              <a:rPr lang="hu-HU" dirty="0"/>
              <a:t>: nyilak, színek, stb.) alapuló vezérlés segítségével. </a:t>
            </a:r>
            <a:endParaRPr lang="en-US" dirty="0"/>
          </a:p>
          <a:p>
            <a:r>
              <a:rPr lang="hu-HU" b="1" dirty="0">
                <a:effectLst/>
              </a:rPr>
              <a:t>Célok</a:t>
            </a:r>
            <a:r>
              <a:rPr lang="en-US" b="1" dirty="0">
                <a:effectLst/>
              </a:rPr>
              <a:t>:</a:t>
            </a:r>
            <a:endParaRPr lang="en-US" dirty="0">
              <a:effectLst/>
            </a:endParaRPr>
          </a:p>
          <a:p>
            <a:r>
              <a:rPr lang="hu-HU" dirty="0">
                <a:effectLst/>
              </a:rPr>
              <a:t>Irányjelzők detektálása a pályán</a:t>
            </a:r>
            <a:endParaRPr lang="en-US" dirty="0">
              <a:effectLst/>
            </a:endParaRPr>
          </a:p>
          <a:p>
            <a:r>
              <a:rPr lang="hu-HU" dirty="0">
                <a:effectLst/>
              </a:rPr>
              <a:t>Irányjelzők összekapcsolása mozgás vezérléssel</a:t>
            </a:r>
          </a:p>
          <a:p>
            <a:r>
              <a:rPr lang="hu-HU" dirty="0">
                <a:effectLst/>
              </a:rPr>
              <a:t>Véges állapotgép vagy parancs alapú navigációs logika implementálása</a:t>
            </a:r>
            <a:endParaRPr lang="en-US" dirty="0">
              <a:effectLst/>
            </a:endParaRPr>
          </a:p>
          <a:p>
            <a:r>
              <a:rPr lang="hu-HU" b="1" dirty="0">
                <a:effectLst/>
              </a:rPr>
              <a:t>Elsajátított tudás</a:t>
            </a:r>
            <a:r>
              <a:rPr lang="en-US" b="1" dirty="0">
                <a:effectLst/>
              </a:rPr>
              <a:t>:</a:t>
            </a:r>
            <a:endParaRPr lang="en-US" dirty="0">
              <a:effectLst/>
            </a:endParaRPr>
          </a:p>
          <a:p>
            <a:r>
              <a:rPr lang="hu-HU" dirty="0">
                <a:effectLst/>
              </a:rPr>
              <a:t>Szimbólum felismerés</a:t>
            </a:r>
            <a:r>
              <a:rPr lang="en-US" dirty="0">
                <a:effectLst/>
              </a:rPr>
              <a:t>, </a:t>
            </a:r>
            <a:r>
              <a:rPr lang="hu-HU" dirty="0">
                <a:effectLst/>
              </a:rPr>
              <a:t>magas szintű vezérlő logika</a:t>
            </a:r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3BF6DF4-F13A-788E-9351-D5AA125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4725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/>
              <a:pPr algn="ctr"/>
              <a:t>2</a:t>
            </a:fld>
            <a:endParaRPr lang="en-US" sz="2000" b="1" noProof="0" dirty="0"/>
          </a:p>
          <a:p>
            <a:pPr algn="ctr"/>
            <a:r>
              <a:rPr lang="en-US" sz="2000" b="1" noProof="0" dirty="0"/>
              <a:t>/</a:t>
            </a:r>
            <a:r>
              <a:rPr lang="hu-HU" sz="2000" b="1" noProof="0" dirty="0"/>
              <a:t>8</a:t>
            </a:r>
            <a:endParaRPr lang="en-US" sz="2000" b="1" noProof="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19B8CEA-8C9C-8A83-3FF9-2814B64C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70" y="2048553"/>
            <a:ext cx="5549769" cy="312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3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C67BE1-2D18-F3C2-5A76-2F06730C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noProof="0" dirty="0"/>
              <a:t>Feladat főbb részei</a:t>
            </a:r>
            <a:r>
              <a:rPr lang="en-US" noProof="0" dirty="0"/>
              <a:t> 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B19154FE-5437-C0CE-BF02-AA7DD54D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0450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/>
              <a:pPr algn="ctr"/>
              <a:t>3</a:t>
            </a:fld>
            <a:endParaRPr lang="en-US" sz="2000" b="1" noProof="0" dirty="0"/>
          </a:p>
          <a:p>
            <a:pPr algn="ctr"/>
            <a:r>
              <a:rPr lang="en-US" sz="2000" b="1" noProof="0" dirty="0"/>
              <a:t>/</a:t>
            </a:r>
            <a:r>
              <a:rPr lang="hu-HU" sz="2000" b="1" dirty="0"/>
              <a:t>8</a:t>
            </a:r>
            <a:endParaRPr lang="en-US" sz="2000" b="1" noProof="0" dirty="0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3D2F334-94F1-1342-6709-1A6D0929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6269325" cy="4058751"/>
          </a:xfrm>
        </p:spPr>
        <p:txBody>
          <a:bodyPr/>
          <a:lstStyle/>
          <a:p>
            <a:r>
              <a:rPr lang="hu-HU" dirty="0"/>
              <a:t>A teljes projekt kivitelezése a </a:t>
            </a:r>
            <a:r>
              <a:rPr lang="hu-HU" dirty="0" err="1"/>
              <a:t>Webots</a:t>
            </a:r>
            <a:r>
              <a:rPr lang="hu-HU" dirty="0"/>
              <a:t> szimulációs környezetben</a:t>
            </a:r>
          </a:p>
          <a:p>
            <a:r>
              <a:rPr lang="hu-HU" dirty="0"/>
              <a:t>Pálya felállítása (labirintus modellezése, szimbólumok készítése, szimbólumok implementálása)</a:t>
            </a:r>
          </a:p>
          <a:p>
            <a:r>
              <a:rPr lang="hu-HU" dirty="0"/>
              <a:t>Feldolgozott képre alapuló robotvezérlő kód készítése</a:t>
            </a:r>
          </a:p>
          <a:p>
            <a:r>
              <a:rPr lang="hu-HU" dirty="0"/>
              <a:t>Kamerakép feldolgozása és összekapcsolása a robotvezérlő kóddal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52ED89C-BB67-C3E9-7CA3-36F8DC17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830" y="1902544"/>
            <a:ext cx="3893369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02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E574A8-404A-0DFD-F8C8-9C2D35AF0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pálya</a:t>
            </a:r>
            <a:endParaRPr lang="en-US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B717C79-B798-5152-98F3-27A48141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4725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/>
              <a:pPr algn="ctr"/>
              <a:t>4</a:t>
            </a:fld>
            <a:endParaRPr lang="en-US" sz="2000" b="1" noProof="0" dirty="0"/>
          </a:p>
          <a:p>
            <a:pPr algn="ctr"/>
            <a:r>
              <a:rPr lang="en-US" sz="2000" b="1" noProof="0" dirty="0"/>
              <a:t>/</a:t>
            </a:r>
            <a:r>
              <a:rPr lang="hu-HU" sz="2000" b="1" dirty="0"/>
              <a:t>8</a:t>
            </a:r>
            <a:endParaRPr lang="en-US" sz="2000" b="1" noProof="0" dirty="0"/>
          </a:p>
        </p:txBody>
      </p:sp>
      <p:pic>
        <p:nvPicPr>
          <p:cNvPr id="12" name="Tartalom helye 11">
            <a:extLst>
              <a:ext uri="{FF2B5EF4-FFF2-40B4-BE49-F238E27FC236}">
                <a16:creationId xmlns:a16="http://schemas.microsoft.com/office/drawing/2014/main" id="{4BD43BC8-D146-14A0-4F9F-31FB7DC73D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939" t="212" r="1195" b="1824"/>
          <a:stretch>
            <a:fillRect/>
          </a:stretch>
        </p:blipFill>
        <p:spPr>
          <a:xfrm>
            <a:off x="2082556" y="1595290"/>
            <a:ext cx="8016240" cy="469392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811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2CFC21-584D-6830-DAE4-069D0F15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robot modell</a:t>
            </a:r>
            <a:endParaRPr lang="en-US" noProof="0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4499AA9E-5470-EC0E-191A-C79FC1A8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4725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/>
              <a:pPr algn="ctr"/>
              <a:t>5</a:t>
            </a:fld>
            <a:endParaRPr lang="en-US" sz="2000" b="1" noProof="0" dirty="0"/>
          </a:p>
          <a:p>
            <a:pPr algn="ctr"/>
            <a:r>
              <a:rPr lang="en-US" sz="2000" b="1" noProof="0" dirty="0"/>
              <a:t>/</a:t>
            </a:r>
            <a:r>
              <a:rPr lang="hu-HU" sz="2000" b="1" dirty="0"/>
              <a:t>8</a:t>
            </a:r>
            <a:endParaRPr lang="en-US" sz="2000" b="1" noProof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Szabadkéz 3">
                <a:extLst>
                  <a:ext uri="{FF2B5EF4-FFF2-40B4-BE49-F238E27FC236}">
                    <a16:creationId xmlns:a16="http://schemas.microsoft.com/office/drawing/2014/main" id="{EC3CAF95-1FA8-55F5-36F9-7BB6EB95AC74}"/>
                  </a:ext>
                </a:extLst>
              </p14:cNvPr>
              <p14:cNvContentPartPr/>
              <p14:nvPr/>
            </p14:nvContentPartPr>
            <p14:xfrm>
              <a:off x="11364660" y="555300"/>
              <a:ext cx="94320" cy="6840"/>
            </p14:xfrm>
          </p:contentPart>
        </mc:Choice>
        <mc:Fallback xmlns="">
          <p:pic>
            <p:nvPicPr>
              <p:cNvPr id="4" name="Szabadkéz 3">
                <a:extLst>
                  <a:ext uri="{FF2B5EF4-FFF2-40B4-BE49-F238E27FC236}">
                    <a16:creationId xmlns:a16="http://schemas.microsoft.com/office/drawing/2014/main" id="{EC3CAF95-1FA8-55F5-36F9-7BB6EB95AC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56020" y="546300"/>
                <a:ext cx="111960" cy="244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Kép 12">
            <a:extLst>
              <a:ext uri="{FF2B5EF4-FFF2-40B4-BE49-F238E27FC236}">
                <a16:creationId xmlns:a16="http://schemas.microsoft.com/office/drawing/2014/main" id="{E43F72B3-5388-F8F8-9016-5387703EA4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198" b="8878"/>
          <a:stretch>
            <a:fillRect/>
          </a:stretch>
        </p:blipFill>
        <p:spPr>
          <a:xfrm>
            <a:off x="913795" y="2415659"/>
            <a:ext cx="4971770" cy="319532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14D05D4-E627-0A47-47BA-B760957AC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2026920"/>
            <a:ext cx="4042091" cy="397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8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E7AE41-B226-7433-F98A-4E844FEC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robotvezérlő kód</a:t>
            </a:r>
            <a:endParaRPr lang="en-US" noProof="0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3CA519F4-27C1-12B1-A8C3-6A9009A8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0450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t"/>
          <a:lstStyle/>
          <a:p>
            <a:pPr algn="ctr"/>
            <a:fld id="{CC057153-B650-4DEB-B370-79DDCFDCE934}" type="slidenum">
              <a:rPr lang="en-US" sz="2000" b="1" noProof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ctr"/>
              <a:t>6</a:t>
            </a:fld>
            <a:endParaRPr lang="en-US" sz="2000" b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hu-H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881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B2519E-D759-88F1-64EA-98AF87C1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98764"/>
            <a:ext cx="10353762" cy="1081286"/>
          </a:xfrm>
        </p:spPr>
        <p:txBody>
          <a:bodyPr>
            <a:normAutofit/>
          </a:bodyPr>
          <a:lstStyle/>
          <a:p>
            <a:r>
              <a:rPr lang="hu-HU" noProof="0" dirty="0"/>
              <a:t>A képfeldolgozó kód</a:t>
            </a:r>
            <a:endParaRPr lang="en-US" noProof="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413CC34-726C-648C-7367-C6D61E85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4725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ctr"/>
              <a:t>7</a:t>
            </a:fld>
            <a:endParaRPr lang="en-US" sz="2000" b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hu-H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sz="2000" b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45E9DA2-C29F-3EF9-5B9D-3808B6A651DE}"/>
              </a:ext>
            </a:extLst>
          </p:cNvPr>
          <p:cNvSpPr txBox="1"/>
          <p:nvPr/>
        </p:nvSpPr>
        <p:spPr>
          <a:xfrm>
            <a:off x="166146" y="5433984"/>
            <a:ext cx="24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 </a:t>
            </a:r>
            <a:endParaRPr lang="en-US" sz="2000" noProof="0" dirty="0"/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50D99441-4508-BE67-1BE3-D3E2B9772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043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0CA96B-D7C9-E6D4-DAF3-A8AB31DD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974725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fld id="{CC057153-B650-4DEB-B370-79DDCFDCE934}" type="slidenum">
              <a:rPr lang="en-US" sz="2000" b="1" noProof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ctr"/>
              <a:t>8</a:t>
            </a:fld>
            <a:endParaRPr lang="en-US" sz="2000" b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hu-H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sz="2000" b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7081A06-C99D-6BDA-AE05-A6E62E09E64C}"/>
              </a:ext>
            </a:extLst>
          </p:cNvPr>
          <p:cNvSpPr txBox="1"/>
          <p:nvPr/>
        </p:nvSpPr>
        <p:spPr>
          <a:xfrm>
            <a:off x="5040262" y="336378"/>
            <a:ext cx="2111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noProof="0" dirty="0"/>
              <a:t>Summary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94BB9E5-1708-727F-E8BA-DC4A253B7B2C}"/>
              </a:ext>
            </a:extLst>
          </p:cNvPr>
          <p:cNvSpPr txBox="1"/>
          <p:nvPr/>
        </p:nvSpPr>
        <p:spPr>
          <a:xfrm>
            <a:off x="3178403" y="1291472"/>
            <a:ext cx="583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robot a célkitűzéseknek megfelelően eljut színes táblák segítségével a labirintus kezdőpontjából a végpontjáig.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4D0F765C-AE41-E9DE-60CE-DD4AA92BF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671486"/>
              </p:ext>
            </p:extLst>
          </p:nvPr>
        </p:nvGraphicFramePr>
        <p:xfrm>
          <a:off x="2465108" y="2246565"/>
          <a:ext cx="7261782" cy="38113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30891">
                  <a:extLst>
                    <a:ext uri="{9D8B030D-6E8A-4147-A177-3AD203B41FA5}">
                      <a16:colId xmlns:a16="http://schemas.microsoft.com/office/drawing/2014/main" val="3027006146"/>
                    </a:ext>
                  </a:extLst>
                </a:gridCol>
                <a:gridCol w="3630891">
                  <a:extLst>
                    <a:ext uri="{9D8B030D-6E8A-4147-A177-3AD203B41FA5}">
                      <a16:colId xmlns:a16="http://schemas.microsoft.com/office/drawing/2014/main" val="1592582712"/>
                    </a:ext>
                  </a:extLst>
                </a:gridCol>
              </a:tblGrid>
              <a:tr h="587345">
                <a:tc>
                  <a:txBody>
                    <a:bodyPr/>
                    <a:lstStyle/>
                    <a:p>
                      <a:pPr algn="ctr"/>
                      <a:r>
                        <a:rPr lang="hu-HU" sz="2200" dirty="0"/>
                        <a:t>Célkitűzések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200" dirty="0"/>
                        <a:t>Megvalósult célok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06499"/>
                  </a:ext>
                </a:extLst>
              </a:tr>
              <a:tr h="587345">
                <a:tc>
                  <a:txBody>
                    <a:bodyPr/>
                    <a:lstStyle/>
                    <a:p>
                      <a:pPr algn="ctr"/>
                      <a:r>
                        <a:rPr lang="hu-HU" sz="2200" dirty="0"/>
                        <a:t>Irányjelzők detektálása a pályán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641214"/>
                  </a:ext>
                </a:extLst>
              </a:tr>
              <a:tr h="1013773">
                <a:tc>
                  <a:txBody>
                    <a:bodyPr/>
                    <a:lstStyle/>
                    <a:p>
                      <a:pPr algn="ctr"/>
                      <a:r>
                        <a:rPr lang="hu-HU" sz="2200" dirty="0"/>
                        <a:t>Irányjelzők összekapcsolása mozgás vezérléssel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305065"/>
                  </a:ext>
                </a:extLst>
              </a:tr>
              <a:tr h="1448247">
                <a:tc>
                  <a:txBody>
                    <a:bodyPr/>
                    <a:lstStyle/>
                    <a:p>
                      <a:pPr algn="ctr"/>
                      <a:r>
                        <a:rPr lang="hu-HU" sz="2200" dirty="0"/>
                        <a:t>Véges állapotgép vagy parancs alapú navigációs logika implementálása</a:t>
                      </a:r>
                    </a:p>
                    <a:p>
                      <a:pPr algn="ctr"/>
                      <a:endParaRPr lang="hu-H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269183"/>
                  </a:ext>
                </a:extLst>
              </a:tr>
            </a:tbl>
          </a:graphicData>
        </a:graphic>
      </p:graphicFrame>
      <p:pic>
        <p:nvPicPr>
          <p:cNvPr id="12" name="Kép 11">
            <a:extLst>
              <a:ext uri="{FF2B5EF4-FFF2-40B4-BE49-F238E27FC236}">
                <a16:creationId xmlns:a16="http://schemas.microsoft.com/office/drawing/2014/main" id="{2B7A125C-832F-B51B-6FC4-B5FFE352A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041" y="2776454"/>
            <a:ext cx="898688" cy="89868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EB5B1314-0A4C-382B-E48F-3CB5C7ABD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041" y="3675142"/>
            <a:ext cx="898688" cy="89868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D2B637D-39AF-DAB0-778F-1E606B55D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041" y="4866536"/>
            <a:ext cx="898688" cy="8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02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ala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3202</TotalTime>
  <Words>186</Words>
  <Application>Microsoft Office PowerPoint</Application>
  <PresentationFormat>Szélesvásznú</PresentationFormat>
  <Paragraphs>48</Paragraphs>
  <Slides>8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Calisto MT</vt:lpstr>
      <vt:lpstr>Wingdings 2</vt:lpstr>
      <vt:lpstr>Pala</vt:lpstr>
      <vt:lpstr>Robotika és gépi látás Projekt Prezentáció</vt:lpstr>
      <vt:lpstr>Feladat leírás</vt:lpstr>
      <vt:lpstr>Feladat főbb részei </vt:lpstr>
      <vt:lpstr>A pálya</vt:lpstr>
      <vt:lpstr>Felhasznált robot modell</vt:lpstr>
      <vt:lpstr>A robotvezérlő kód</vt:lpstr>
      <vt:lpstr>A képfeldolgozó kód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Zoárd Tibor Weninger</dc:creator>
  <cp:lastModifiedBy>Zoárd Tibor Weninger</cp:lastModifiedBy>
  <cp:revision>55</cp:revision>
  <dcterms:created xsi:type="dcterms:W3CDTF">2025-11-04T10:06:59Z</dcterms:created>
  <dcterms:modified xsi:type="dcterms:W3CDTF">2026-05-07T13:30:00Z</dcterms:modified>
</cp:coreProperties>
</file>